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61"/>
    <p:restoredTop sz="94721"/>
  </p:normalViewPr>
  <p:slideViewPr>
    <p:cSldViewPr snapToGrid="0" snapToObjects="1">
      <p:cViewPr>
        <p:scale>
          <a:sx n="93" d="100"/>
          <a:sy n="93" d="100"/>
        </p:scale>
        <p:origin x="1280" y="6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5F3DD-8EC5-7F46-A5AE-740E822CC492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17981-F518-AB48-B885-76A7C7393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13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17981-F518-AB48-B885-76A7C7393D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71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365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Quantum Portfolio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Calibri"/>
              </a:rPr>
              <a:t>8-Qubit Sector-Selection QUBO on Bloqade Neutral-Atom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0CCFF"/>
                </a:solidFill>
                <a:latin typeface="Calibri"/>
              </a:rPr>
              <a:t>GOALCWRU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GOALCWRU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A6E"/>
                </a:solidFill>
                <a:latin typeface="Calibri"/>
              </a:rPr>
              <a:t>YQuantum 2026  ·  Capgemini × The Hartford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01568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5478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547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E"/>
                </a:solidFill>
                <a:latin typeface="Calibri"/>
              </a:rPr>
              <a:t>Real Hartford workbook · 50 assets · 1,200 economic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Sectors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E"/>
                </a:solidFill>
                <a:latin typeface="Calibri"/>
              </a:rPr>
              <a:t>8 asset-class sectors · equal-weight aggregation · 8×8 covariance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98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4988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E"/>
                </a:solidFill>
                <a:latin typeface="Calibri"/>
              </a:rPr>
              <a:t>Bloqade neutral-atom simulator · 8 qubits · Gemini noise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743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9743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E"/>
                </a:solidFill>
                <a:latin typeface="Calibri"/>
              </a:rPr>
              <a:t>QUBO → Ising → QAOA (p=1,2,3) · COBYLA optimiser · 2,048 shots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3520440"/>
            <a:ext cx="4572000" cy="2377440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0" y="3520440"/>
            <a:ext cx="45720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354787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Key Innovations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58768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✓  K₈ edge-coloring: 28 → 7 parallel ZZ moments per layer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✓  2D atom layout via MDS on sector correlations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✓  Insurer-aware penalties: Solvency II capital + liquidity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✓  Quantum matches classical optimum in all 4 model variants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✓  Gemini noise analysis: fidelity vs depth characterisation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✓  Fully reproducible pipeline from real Hartford workbook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Insurer portfolio selection under regulatory capital &amp; liquidity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E"/>
                </a:solidFill>
                <a:latin typeface="Calibri"/>
              </a:rPr>
              <a:t>The Hartford seeks to allocate capital across 8 asset-class sectors to maximise risk-adjusted return while satisfying Solvency II capital charges and liquidity requirements. Select exactly B = 4 from 8 sectors — a binary optimisation that maps naturally to an 8-qubit QUBO.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85032" cy="281635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8503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3502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Combinatorial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50 Hartford assets → 8 sectors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5798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Equal-weight aggregation: wᵢ = xᵢ/B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9689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9689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Select 4 of 8: C(8,4) = 70 feasible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3580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358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Search space: 2⁸ = 256 bitstrings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74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Ground truth via exact brute-force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371600"/>
            <a:ext cx="3685032" cy="281635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1371600"/>
            <a:ext cx="368503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1399032"/>
            <a:ext cx="3502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Insurer Constraints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719072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17190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Markowitz mean–variance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15798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215798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Capital-charge penalty (γ = 0.25)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59689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259689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Illiquidity penalty (η = 0.25)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03580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0358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1,200 scenario stress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47472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3474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VaR₉₅, CVaR₉₅, worst-case 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1371600"/>
            <a:ext cx="3685032" cy="281635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1371600"/>
            <a:ext cx="368503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1399032"/>
            <a:ext cx="3502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Quantum Formulation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1719072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17190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Binary xᵢ ∈ {0,1} → 8 qubits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157984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215798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QUBO encodes obj + constraints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596896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259689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Ising Hamiltonian for Bloqade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03580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30358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QAOA with p = 1, 2, 3 layers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47472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3474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Neutral-atom 2D array execution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645152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4681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Sector → Qubit Mapping  (project_config.py):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956048"/>
            <a:ext cx="1372743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4974336"/>
            <a:ext cx="13727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q₀ Cash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66518" y="4956048"/>
            <a:ext cx="1372743" cy="292608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66518" y="4974336"/>
            <a:ext cx="13727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q₁ Gov Bonds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75838" y="4956048"/>
            <a:ext cx="1372743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75838" y="4974336"/>
            <a:ext cx="13727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q₂ IG Credit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5157" y="4956048"/>
            <a:ext cx="1372743" cy="292608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85157" y="4974336"/>
            <a:ext cx="13727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q₃ HY Credit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4476" y="4956048"/>
            <a:ext cx="1372743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94476" y="4974336"/>
            <a:ext cx="13727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q₄ Eq US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03795" y="4956048"/>
            <a:ext cx="1372743" cy="292608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03795" y="4974336"/>
            <a:ext cx="13727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q₅ Eq Intl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13114" y="4956048"/>
            <a:ext cx="1372743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13114" y="4974336"/>
            <a:ext cx="13727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q₆ Real Est.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22433" y="4956048"/>
            <a:ext cx="1372743" cy="292608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22433" y="4974336"/>
            <a:ext cx="13727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q₇ Infra.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376672"/>
            <a:ext cx="11274552" cy="502920"/>
          </a:xfrm>
          <a:prstGeom prst="rect">
            <a:avLst/>
          </a:prstGeom>
          <a:solidFill>
            <a:srgbClr val="EBF3FF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6928" y="5440680"/>
            <a:ext cx="11055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Budget constraint:  1ᵀx = B = 4   →   C(8,4) = 70 feasible portfolios from 256 total bitstrings   →   exact brute-force validation possible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QUBO model verified against portfolio_model.py lines 615–668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Objective Function  (Markowitz + budget + insurer penalties)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11274552" cy="411480"/>
          </a:xfrm>
          <a:prstGeom prst="rect">
            <a:avLst/>
          </a:prstGeom>
          <a:solidFill>
            <a:srgbClr val="EBF3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987552"/>
            <a:ext cx="11055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 Math"/>
              </a:rPr>
              <a:t>min     (q/B²) xᵀΣx  −  (1/B) μᵀx  +  λ(1ᵀx − B)²  +  (γ/B) c̃ᵀx  +  (η/B) ĩᵀx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6E"/>
                </a:solidFill>
                <a:latin typeface="Calibri"/>
              </a:rPr>
              <a:t>x ∈ {0,1}⁸       q = risk aversion       λ = budget penalty       c̃ = normalised capital charge       ĩ = normalised illiquidity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5648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Upper-Triangular QUBO Matrix 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39696"/>
            <a:ext cx="11274552" cy="384048"/>
          </a:xfrm>
          <a:prstGeom prst="rect">
            <a:avLst/>
          </a:prstGeom>
          <a:solidFill>
            <a:srgbClr val="EBF3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1055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 Math"/>
              </a:rPr>
              <a:t>Qᵢᵢ  =  (q/B²)Σᵢᵢ  −  μᵢ/B  +  λ(1 − 2B)  +  (γ/B)c̃ᵢ  +  (η/B)ĩᵢ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78608"/>
            <a:ext cx="6551676" cy="384048"/>
          </a:xfrm>
          <a:prstGeom prst="rect">
            <a:avLst/>
          </a:prstGeom>
          <a:solidFill>
            <a:srgbClr val="EBF3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33472"/>
            <a:ext cx="63322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 Math"/>
              </a:rPr>
              <a:t>Qᵢⱼ  =  (2q/B²)Σᵢⱼ  +  2λ       (i &lt; j)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1756" y="25786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  <a:latin typeface="Calibri"/>
              </a:rPr>
              <a:t>← Budget penalty 2λ appears in every
    off-diagonal → near-complete K₈ graph!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54096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14553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Ising Mapping  (for Bloqade QAOA)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38144"/>
            <a:ext cx="11274552" cy="384048"/>
          </a:xfrm>
          <a:prstGeom prst="rect">
            <a:avLst/>
          </a:prstGeom>
          <a:solidFill>
            <a:srgbClr val="EBF3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493008"/>
            <a:ext cx="11055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 Math"/>
              </a:rPr>
              <a:t>xᵢ = (1 − sᵢ)/2    →    H_C = Σᵢ hᵢZᵢ  +  Σᵢ&lt;ⱼ JᵢⱼZᵢZⱼ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77056"/>
            <a:ext cx="11274552" cy="384048"/>
          </a:xfrm>
          <a:prstGeom prst="rect">
            <a:avLst/>
          </a:prstGeom>
          <a:solidFill>
            <a:srgbClr val="EBF3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 Math"/>
              </a:rPr>
              <a:t>Jᵢⱼ = Qᵢⱼ/4            hᵢ = −Qᵢᵢ/2  −  (1/4) Σⱼ≠ᵢ Qᵢⱼ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79976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Hyperparameters  (project_config.py ModelHyperparameters + ExecutionConfig):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45736"/>
            <a:ext cx="1824228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782312"/>
            <a:ext cx="17327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6FEB"/>
                </a:solidFill>
                <a:latin typeface="Calibri"/>
              </a:rPr>
              <a:t>B =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01768"/>
            <a:ext cx="1732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5A6E"/>
                </a:solidFill>
                <a:latin typeface="Calibri"/>
              </a:rPr>
              <a:t>Budget
(sectors)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6292" y="4745736"/>
            <a:ext cx="1824228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82012" y="4782312"/>
            <a:ext cx="17327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6FEB"/>
                </a:solidFill>
                <a:latin typeface="Calibri"/>
              </a:rPr>
              <a:t>q = 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2012" y="5001768"/>
            <a:ext cx="1732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5A6E"/>
                </a:solidFill>
                <a:latin typeface="Calibri"/>
              </a:rPr>
              <a:t>Risk
aversion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4745736"/>
            <a:ext cx="1824228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61104" y="4782312"/>
            <a:ext cx="17327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6FEB"/>
                </a:solidFill>
                <a:latin typeface="Calibri"/>
              </a:rPr>
              <a:t>λ = 8.0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4" y="5001768"/>
            <a:ext cx="1732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5A6E"/>
                </a:solidFill>
                <a:latin typeface="Calibri"/>
              </a:rPr>
              <a:t>Budget
penalty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4476" y="4745736"/>
            <a:ext cx="1824228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0196" y="4782312"/>
            <a:ext cx="17327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6FEB"/>
                </a:solidFill>
                <a:latin typeface="Calibri"/>
              </a:rPr>
              <a:t>γ = 0.25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0196" y="5001768"/>
            <a:ext cx="1732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5A6E"/>
                </a:solidFill>
                <a:latin typeface="Calibri"/>
              </a:rPr>
              <a:t>Capital
penalty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73568" y="4745736"/>
            <a:ext cx="1824228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19288" y="4782312"/>
            <a:ext cx="17327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6FEB"/>
                </a:solidFill>
                <a:latin typeface="Calibri"/>
              </a:rPr>
              <a:t>η = 0.25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5001768"/>
            <a:ext cx="1732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5A6E"/>
                </a:solidFill>
                <a:latin typeface="Calibri"/>
              </a:rPr>
              <a:t>Illiquidity
penalty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52660" y="4745736"/>
            <a:ext cx="1824228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98380" y="4782312"/>
            <a:ext cx="17327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6FEB"/>
                </a:solidFill>
                <a:latin typeface="Calibri"/>
              </a:rPr>
              <a:t>shots = 2048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8380" y="5001768"/>
            <a:ext cx="1732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5A6E"/>
                </a:solidFill>
                <a:latin typeface="Calibri"/>
              </a:rPr>
              <a:t>Measurement
samples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Portfolio Tradeoff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Four model variants — real Hartford workbook data</a:t>
            </a:r>
          </a:p>
        </p:txBody>
      </p:sp>
      <p:pic>
        <p:nvPicPr>
          <p:cNvPr id="5" name="Picture 4" descr="portfolio_tradeoff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1792"/>
            <a:ext cx="658368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95160" y="621792"/>
            <a:ext cx="4709160" cy="98755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621792"/>
            <a:ext cx="470916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6492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92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0CCFF"/>
                </a:solidFill>
                <a:latin typeface="Calibri"/>
              </a:rPr>
              <a:t>00011110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91440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HY Credit · Eq US · Eq Intl · Real Estate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13385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Obj: −128.000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35024"/>
            <a:ext cx="4526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Ret: 0.040%  Vol: 0.492%  CapChg: 0.255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1673351"/>
            <a:ext cx="4709160" cy="98755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95160" y="1673351"/>
            <a:ext cx="470916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17007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+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1700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0CCFF"/>
                </a:solidFill>
                <a:latin typeface="Calibri"/>
              </a:rPr>
              <a:t>11110000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96596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Cash · Gov Bonds · IG Credit · HY Credit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85415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Obj: −127.985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386584"/>
            <a:ext cx="4526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Ret: 0.014%  Vol: 0.198%  CapChg: 0.026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2724911"/>
            <a:ext cx="4709160" cy="98755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95160" y="2724911"/>
            <a:ext cx="470916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275234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+ Liquidity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75234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0CCFF"/>
                </a:solidFill>
                <a:latin typeface="Calibri"/>
              </a:rPr>
              <a:t>11001100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017519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Cash · Gov Bonds · Eq US · Eq Intl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236975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Obj: −127.980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438144"/>
            <a:ext cx="4526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Ret: 0.022%  Vol: 0.373%  Liq: 4.21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3776472"/>
            <a:ext cx="4709160" cy="98755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95160" y="3776472"/>
            <a:ext cx="470916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86600" y="38039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8039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0CCFF"/>
                </a:solidFill>
                <a:latin typeface="Calibri"/>
              </a:rPr>
              <a:t>11110000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06908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Cash · Gov Bonds · IG Credit · HY Credit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28853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Obj: −127.915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489704"/>
            <a:ext cx="4526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Ret: 0.014%  Vol: 0.198%  CapChg: 0.026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solidFill>
            <a:srgbClr val="EBF3FF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5084064"/>
            <a:ext cx="11055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alibri"/>
              </a:rPr>
              <a:t>Business insight:  Capital model rotates entirely to fixed-income sectors (capital charge drops 0.255 → 0.026). When γ = η = 0.25, solvency constraint is the binding driver — highly relevant for Solvency II-regulated insurers like The Hartford.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Scenario-Based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1,200 economic scenarios from The Hartford workbook</a:t>
            </a:r>
          </a:p>
        </p:txBody>
      </p:sp>
      <p:pic>
        <p:nvPicPr>
          <p:cNvPr id="5" name="Picture 4" descr="scenario_return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1792"/>
            <a:ext cx="68580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658368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Stress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914400"/>
            <a:ext cx="4251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E"/>
                </a:solidFill>
                <a:latin typeface="Calibri"/>
              </a:rPr>
              <a:t>(from comparison_table.csv)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152144"/>
            <a:ext cx="96012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7224" y="1179576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56" y="1152144"/>
            <a:ext cx="100584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17957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Worst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91472" y="1152144"/>
            <a:ext cx="100584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46336" y="117957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VaR₉₅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33887" y="1152144"/>
            <a:ext cx="96012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88751" y="1179576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444752"/>
            <a:ext cx="960120" cy="329184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07224" y="1490472"/>
            <a:ext cx="850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49056" y="1444752"/>
            <a:ext cx="1005840" cy="329184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490472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222F"/>
                </a:solidFill>
                <a:latin typeface="Calibri"/>
              </a:rPr>
              <a:t>−1.73%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1472" y="1444752"/>
            <a:ext cx="1005840" cy="329184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46336" y="1490472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0.786%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33887" y="1444752"/>
            <a:ext cx="960120" cy="329184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88751" y="1490472"/>
            <a:ext cx="850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0.492%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792224"/>
            <a:ext cx="96012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07224" y="1837943"/>
            <a:ext cx="850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Capital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9056" y="1792224"/>
            <a:ext cx="1005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1837943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222F"/>
                </a:solidFill>
                <a:latin typeface="Calibri"/>
              </a:rPr>
              <a:t>−0.61%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1472" y="1792224"/>
            <a:ext cx="1005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46336" y="1837943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0.310%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33887" y="1792224"/>
            <a:ext cx="96012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88751" y="1837943"/>
            <a:ext cx="850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0.198%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2139696"/>
            <a:ext cx="960120" cy="329184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07224" y="2185415"/>
            <a:ext cx="850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Liquid.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9056" y="2139696"/>
            <a:ext cx="1005840" cy="329184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0" y="2185415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222F"/>
                </a:solidFill>
                <a:latin typeface="Calibri"/>
              </a:rPr>
              <a:t>−1.06%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91472" y="2139696"/>
            <a:ext cx="1005840" cy="329184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46336" y="2185415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0.611%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33887" y="2139696"/>
            <a:ext cx="960120" cy="329184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88751" y="2185415"/>
            <a:ext cx="850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0.373%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2487168"/>
            <a:ext cx="96012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07224" y="2532888"/>
            <a:ext cx="850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Both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49056" y="2487168"/>
            <a:ext cx="1005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2532888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222F"/>
                </a:solidFill>
                <a:latin typeface="Calibri"/>
              </a:rPr>
              <a:t>−0.61%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91472" y="2487168"/>
            <a:ext cx="1005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46336" y="2532888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0.310%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33887" y="2487168"/>
            <a:ext cx="96012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88751" y="2532888"/>
            <a:ext cx="850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0.198%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2907792"/>
            <a:ext cx="4251960" cy="777240"/>
          </a:xfrm>
          <a:prstGeom prst="rect">
            <a:avLst/>
          </a:prstGeom>
          <a:solidFill>
            <a:srgbClr val="EBF3FF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25512" y="2962656"/>
            <a:ext cx="41056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Capital model reduces worst-case loss by 65% (−1.73% → −0.61%) and VaR₉₅ by 60% — directly improves Solvency II SCR ratio.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3785615"/>
            <a:ext cx="4251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C(8,4) = 70 feasible portfolios from 256 total</a:t>
            </a:r>
          </a:p>
          <a:p>
            <a:pPr>
              <a:spcBef>
                <a:spcPts val="200"/>
              </a:spcBef>
            </a:pPr>
            <a:endParaRPr sz="900" b="0">
              <a:solidFill>
                <a:srgbClr val="4A5A6E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Portfolio scenario return: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r_t(x) = Σₛ (xₛ/B) · R_t^(sec)</a:t>
            </a:r>
          </a:p>
          <a:p>
            <a:pPr>
              <a:spcBef>
                <a:spcPts val="200"/>
              </a:spcBef>
            </a:pPr>
            <a:endParaRPr sz="900" b="0">
              <a:solidFill>
                <a:srgbClr val="4A5A6E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Computed per results_metrics.py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6E"/>
                </a:solidFill>
                <a:latin typeface="Calibri"/>
              </a:rPr>
              <a:t>using all 1,200 Hartford scenarios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QAOA Circuit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Quantum Approximate Optimisation Algorithm on Bloqade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QAOA Ansatz: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411480"/>
          </a:xfrm>
          <a:prstGeom prst="rect">
            <a:avLst/>
          </a:prstGeom>
          <a:solidFill>
            <a:srgbClr val="EBF3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950976"/>
            <a:ext cx="11055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 Math"/>
              </a:rPr>
              <a:t>|ψ(γ,β)⟩ = ∏ₖ₌₁ᵖ  exp(−iβₖ H_M) · exp(−iγₖ H_C) · |+⟩⊗⁸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H_C = Σᵢ hᵢZᵢ + Σᵢ&lt;ⱼ JᵢⱼZᵢZⱼ  (cost Hamiltonian)        H_M = Σᵢ Xᵢ  (transverse-field mixer)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10512"/>
            <a:ext cx="32004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92024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810512"/>
            <a:ext cx="10908792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184708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Initialise |+⟩⊗⁸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084831"/>
            <a:ext cx="10680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Hadamard on all 8 qubits → uniform superposition over 256 bitstrings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32004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57860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68880"/>
            <a:ext cx="10908792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50545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Cost layer (×p)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743200"/>
            <a:ext cx="10680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Rz(2γhᵢ) for single-qubit fields; ZZ-phase via  H · CZ · Rx(2γJᵢⱼ) · CZ · H  decomposition — 28 edges from K₈ coupling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27248"/>
            <a:ext cx="32004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2369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127248"/>
            <a:ext cx="10908792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16382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Mixer layer (×p)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401568"/>
            <a:ext cx="10680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Rx(2βₖ) on every qubit — explores solution space around current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85616"/>
            <a:ext cx="32004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389534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785616"/>
            <a:ext cx="10908792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382219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Classical optimiser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059936"/>
            <a:ext cx="10680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COBYLA minimises ⟨ψ|H_C|ψ⟩ over {γₖ, βₖ}  ·  12 random restarts  ·  5 coordinate-descent refinement rounds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43983"/>
            <a:ext cx="32004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55371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443983"/>
            <a:ext cx="10908792" cy="56692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4480559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Sample &amp; decode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718303"/>
            <a:ext cx="10680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Draw 2,048 measurement shots  ·  filter feasible (Σxᵢ = 4)  ·  select bitstring with lowest QUBO energy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75504"/>
            <a:ext cx="11274552" cy="320040"/>
          </a:xfrm>
          <a:prstGeom prst="rect">
            <a:avLst/>
          </a:prstGeom>
          <a:solidFill>
            <a:srgbClr val="EBF3FF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5212080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Depths: p = 1, 2, 3   |   Seeds: {7, 11, 19}   |   Schedules: naive / auto-parallel / hand 7-color / pruned   |   Simulator: Bloqade + Gemini noise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Energy Landscape &amp; Parameter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Exact 256-state enumeration validates quantum approach</a:t>
            </a:r>
          </a:p>
        </p:txBody>
      </p:sp>
      <p:pic>
        <p:nvPicPr>
          <p:cNvPr id="5" name="Picture 4" descr="energy_landscape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"/>
            <a:ext cx="3520440" cy="2514600"/>
          </a:xfrm>
          <a:prstGeom prst="rect">
            <a:avLst/>
          </a:prstGeom>
        </p:spPr>
      </p:pic>
      <p:pic>
        <p:nvPicPr>
          <p:cNvPr id="6" name="Picture 5" descr="qaoa_parameter_landscape_base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640080"/>
            <a:ext cx="3520440" cy="2514600"/>
          </a:xfrm>
          <a:prstGeom prst="rect">
            <a:avLst/>
          </a:prstGeom>
        </p:spPr>
      </p:pic>
      <p:pic>
        <p:nvPicPr>
          <p:cNvPr id="7" name="Picture 6" descr="qaoa_convergence_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746884"/>
            <a:ext cx="4398264" cy="2407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19125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alibri"/>
              </a:rPr>
              <a:t>All 256 states — energy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319125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alibri"/>
              </a:rPr>
              <a:t>(γ, β) parameter landscape  p=1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7536" y="319125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alibri"/>
              </a:rPr>
              <a:t>QAOA convergence  p = 1, 2,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47288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5582412" cy="1051560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4572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575304"/>
            <a:ext cx="5353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70 Feasible Portfolios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31336"/>
            <a:ext cx="53538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C(8,4) = 70 feasible bitstrings out of 2⁸ = 256. Exact brute-force confirms ground truth for all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3520440"/>
            <a:ext cx="5582412" cy="1051560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49340" y="3520440"/>
            <a:ext cx="4572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6500" y="3575304"/>
            <a:ext cx="5353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QAOA Finds the Optimum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831336"/>
            <a:ext cx="53538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Best sampled feasible bitstring matches exact classical optimum for all 4 model variants (base, capital, liquidity, both).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45152"/>
            <a:ext cx="5582412" cy="1051560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645152"/>
            <a:ext cx="4572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700016"/>
            <a:ext cx="5353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P(optimal) at p=1 = 0.849%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56048"/>
            <a:ext cx="53538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From bloqade_validation.json: base_p1_probability_best. Compare to uniform baseline: 1/70 ≈ 1.43%.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4645152"/>
            <a:ext cx="5582412" cy="1051560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9340" y="4645152"/>
            <a:ext cx="4572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86500" y="4700016"/>
            <a:ext cx="5353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Feasible Mass = 57.66%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0" y="4956048"/>
            <a:ext cx="53538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Hand-schedule p=3 run. Over half the quantum distribution concentrates on valid budget-4 portfolios.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2D Neutral-Atom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Atom positions from classical MDS on sector correlations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3058" y="640080"/>
            <a:ext cx="3091262" cy="497433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13058" y="640080"/>
            <a:ext cx="309126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42452" y="676656"/>
            <a:ext cx="50840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Sector Correlation Structure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52287" y="1005840"/>
            <a:ext cx="5084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i="0" dirty="0">
                <a:solidFill>
                  <a:srgbClr val="1B2A4A"/>
                </a:solidFill>
                <a:latin typeface="Calibri"/>
              </a:rPr>
              <a:t>How it’s built</a:t>
            </a:r>
            <a:endParaRPr sz="10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52287" y="1243584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1)  Start with 8×8 sector covariance </a:t>
            </a:r>
            <a:r>
              <a:rPr sz="900" b="0" i="0" dirty="0" err="1">
                <a:solidFill>
                  <a:srgbClr val="4A5A6E"/>
                </a:solidFill>
                <a:latin typeface="Calibri"/>
              </a:rPr>
              <a:t>Σ</a:t>
            </a:r>
            <a:endParaRPr sz="900" b="0" i="0" dirty="0">
              <a:solidFill>
                <a:srgbClr val="4A5A6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52287" y="1499616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2)  Distance: d(</a:t>
            </a:r>
            <a:r>
              <a:rPr sz="900" b="0" i="0" dirty="0" err="1">
                <a:solidFill>
                  <a:srgbClr val="4A5A6E"/>
                </a:solidFill>
                <a:latin typeface="Calibri"/>
              </a:rPr>
              <a:t>i,j</a:t>
            </a:r>
            <a:r>
              <a:rPr sz="900" b="0" i="0" dirty="0">
                <a:solidFill>
                  <a:srgbClr val="4A5A6E"/>
                </a:solidFill>
                <a:latin typeface="Calibri"/>
              </a:rPr>
              <a:t>) = 1 − |</a:t>
            </a:r>
            <a:r>
              <a:rPr sz="900" b="0" i="0" dirty="0" err="1">
                <a:solidFill>
                  <a:srgbClr val="4A5A6E"/>
                </a:solidFill>
                <a:latin typeface="Calibri"/>
              </a:rPr>
              <a:t>corr</a:t>
            </a:r>
            <a:r>
              <a:rPr sz="900" b="0" i="0" dirty="0">
                <a:solidFill>
                  <a:srgbClr val="4A5A6E"/>
                </a:solidFill>
                <a:latin typeface="Calibri"/>
              </a:rPr>
              <a:t>(</a:t>
            </a:r>
            <a:r>
              <a:rPr sz="900" b="0" i="0" dirty="0" err="1">
                <a:solidFill>
                  <a:srgbClr val="4A5A6E"/>
                </a:solidFill>
                <a:latin typeface="Calibri"/>
              </a:rPr>
              <a:t>i,j</a:t>
            </a:r>
            <a:r>
              <a:rPr sz="900" b="0" i="0" dirty="0">
                <a:solidFill>
                  <a:srgbClr val="4A5A6E"/>
                </a:solidFill>
                <a:latin typeface="Calibri"/>
              </a:rPr>
              <a:t>)|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2287" y="1755648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3)  Classical MDS → 2D (</a:t>
            </a:r>
            <a:r>
              <a:rPr sz="900" b="0" i="0" dirty="0" err="1">
                <a:solidFill>
                  <a:srgbClr val="4A5A6E"/>
                </a:solidFill>
                <a:latin typeface="Calibri"/>
              </a:rPr>
              <a:t>x,y</a:t>
            </a:r>
            <a:r>
              <a:rPr sz="900" b="0" i="0" dirty="0">
                <a:solidFill>
                  <a:srgbClr val="4A5A6E"/>
                </a:solidFill>
                <a:latin typeface="Calibri"/>
              </a:rPr>
              <a:t>) positions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2287" y="2011680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4)  Highly-correlated sectors placed closer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2287" y="2377440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B2A4A"/>
                </a:solidFill>
                <a:latin typeface="Calibri"/>
              </a:rPr>
              <a:t>Hardware motivation: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2287" y="2615184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•  Rydberg blockade radius ~ 6–10 </a:t>
            </a:r>
            <a:r>
              <a:rPr sz="900" b="0" i="0" dirty="0" err="1">
                <a:solidFill>
                  <a:srgbClr val="4A5A6E"/>
                </a:solidFill>
                <a:latin typeface="Calibri"/>
              </a:rPr>
              <a:t>μm</a:t>
            </a:r>
            <a:endParaRPr sz="900" b="0" i="0" dirty="0">
              <a:solidFill>
                <a:srgbClr val="4A5A6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52287" y="2871216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•  Closer atoms → stronger native ZZ coupling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2287" y="3127248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•  Layout aligns problem↔hardware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2287" y="3383280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•  Fewer SWAP gates for strongly-coupled pairs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2287" y="3749040"/>
            <a:ext cx="5084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i="0" dirty="0">
                <a:solidFill>
                  <a:srgbClr val="1B2A4A"/>
                </a:solidFill>
                <a:latin typeface="Calibri"/>
              </a:rPr>
              <a:t>Important note:</a:t>
            </a:r>
            <a:endParaRPr sz="10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52287" y="3986784"/>
            <a:ext cx="5084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•  </a:t>
            </a:r>
            <a:r>
              <a:rPr lang="en-US" sz="900" b="0" i="0" dirty="0">
                <a:solidFill>
                  <a:srgbClr val="4A5A6E"/>
                </a:solidFill>
                <a:latin typeface="Calibri"/>
              </a:rPr>
              <a:t>The correlation heatmap is exact</a:t>
            </a:r>
            <a:endParaRPr sz="900" b="0" i="0" dirty="0">
              <a:solidFill>
                <a:srgbClr val="4A5A6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52287" y="4242816"/>
            <a:ext cx="5084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•  </a:t>
            </a:r>
            <a:r>
              <a:rPr lang="en-US" sz="900" dirty="0">
                <a:solidFill>
                  <a:srgbClr val="4A5A6E"/>
                </a:solidFill>
                <a:latin typeface="Calibri"/>
              </a:rPr>
              <a:t>The 2D layout is approximate</a:t>
            </a:r>
            <a:endParaRPr sz="900" b="0" i="0" dirty="0">
              <a:solidFill>
                <a:srgbClr val="4A5A6E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52287" y="4498848"/>
            <a:ext cx="5084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•  </a:t>
            </a:r>
            <a:r>
              <a:rPr lang="en-US" sz="900" dirty="0">
                <a:solidFill>
                  <a:srgbClr val="4A5A6E"/>
                </a:solidFill>
                <a:latin typeface="Calibri"/>
              </a:rPr>
              <a:t>Not a literal physical atomic placement</a:t>
            </a:r>
            <a:endParaRPr sz="900" b="0" i="0" dirty="0">
              <a:solidFill>
                <a:srgbClr val="4A5A6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52287" y="4754880"/>
            <a:ext cx="5084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•  </a:t>
            </a:r>
            <a:r>
              <a:rPr lang="en-US" sz="900" b="0" i="0" dirty="0">
                <a:solidFill>
                  <a:srgbClr val="4A5A6E"/>
                </a:solidFill>
                <a:latin typeface="Calibri"/>
              </a:rPr>
              <a:t>Matrix is the proof, layout is for intuition</a:t>
            </a:r>
            <a:endParaRPr sz="900" b="0" i="0" dirty="0">
              <a:solidFill>
                <a:srgbClr val="4A5A6E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5193792"/>
            <a:ext cx="11274552" cy="457200"/>
          </a:xfrm>
          <a:prstGeom prst="rect">
            <a:avLst/>
          </a:prstGeom>
          <a:solidFill>
            <a:srgbClr val="EBF3FF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5239512"/>
            <a:ext cx="11055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This correlation-driven 2D embedding is a key hardware insight: it shows how the financial problem structure can directly inform the neutral-atom trap geometry for reduced gate overhead on real QuEra/Pasqal hardware.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pic>
        <p:nvPicPr>
          <p:cNvPr id="33" name="Picture 32" descr="A screenshot of a graph&#10;&#10;AI-generated content may be incorrect.">
            <a:extLst>
              <a:ext uri="{FF2B5EF4-FFF2-40B4-BE49-F238E27FC236}">
                <a16:creationId xmlns:a16="http://schemas.microsoft.com/office/drawing/2014/main" id="{CFE84EAC-37CA-B655-3294-D099D78F8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1244200"/>
            <a:ext cx="7531510" cy="3455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Hardware Insight — Edge Coloring &amp;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K₈ parallelism · Gemini noise model · circuit depth reduction</a:t>
            </a:r>
          </a:p>
        </p:txBody>
      </p:sp>
      <p:pic>
        <p:nvPicPr>
          <p:cNvPr id="5" name="Picture 4" descr="bloqade_edge_col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"/>
            <a:ext cx="3520440" cy="2487168"/>
          </a:xfrm>
          <a:prstGeom prst="rect">
            <a:avLst/>
          </a:prstGeom>
        </p:spPr>
      </p:pic>
      <p:pic>
        <p:nvPicPr>
          <p:cNvPr id="6" name="Picture 5" descr="success_vs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640080"/>
            <a:ext cx="3520440" cy="2487168"/>
          </a:xfrm>
          <a:prstGeom prst="rect">
            <a:avLst/>
          </a:prstGeom>
        </p:spPr>
      </p:pic>
      <p:pic>
        <p:nvPicPr>
          <p:cNvPr id="7" name="Picture 6" descr="bloqade_fidelity_vs_dep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640080"/>
            <a:ext cx="3520440" cy="248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163824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alibri"/>
              </a:rPr>
              <a:t>K₈ edge coloring (7 colours)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3163824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alibri"/>
              </a:rPr>
              <a:t>Success probability vs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7536" y="3163824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alibri"/>
              </a:rPr>
              <a:t>Fidelity vs QAOA depth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01568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1274552" cy="777240"/>
          </a:xfrm>
          <a:prstGeom prst="rect">
            <a:avLst/>
          </a:prstGeom>
          <a:solidFill>
            <a:srgbClr val="EBF3FF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511296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Key insight:  K₈ → 7-colour edge schedule → 4× depth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49040"/>
            <a:ext cx="11055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E"/>
                </a:solidFill>
                <a:latin typeface="Calibri"/>
              </a:rPr>
              <a:t>Budget penalty 2λ adds constant coupling to every qubit pair → near-complete K₈. Optimal 7-colouring (Vizing's theorem) schedules all 28 ZZ gates in 7 parallel moments per cost layer (vs 28 sequential). Gate depth drops ~252 → 85 at p=3.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5582412" cy="71323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379976"/>
            <a:ext cx="53995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Noise impact (Gemini one-zone)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222F"/>
                </a:solidFill>
                <a:latin typeface="Calibri"/>
              </a:rPr>
              <a:t>Feasible mass:  59.44% → 47.64%        Optimal P(x*):  0.849% → 0.697%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0" y="4343400"/>
            <a:ext cx="5582412" cy="71323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0780" y="4379976"/>
            <a:ext cx="53995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Circuit metrics (hand 7-color, p=3)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4617720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  <a:latin typeface="Calibri"/>
              </a:rPr>
              <a:t>Circuit depth:  85 gates        One-zone fidelity:  0.1486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Scheduling &amp; Depth–Quality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Naive vs auto-parallel vs hand 7-colour</a:t>
            </a:r>
          </a:p>
        </p:txBody>
      </p:sp>
      <p:pic>
        <p:nvPicPr>
          <p:cNvPr id="6" name="Picture 5" descr="bloqade_dept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39" y="640080"/>
            <a:ext cx="3520440" cy="2487168"/>
          </a:xfrm>
          <a:prstGeom prst="rect">
            <a:avLst/>
          </a:prstGeom>
        </p:spPr>
      </p:pic>
      <p:pic>
        <p:nvPicPr>
          <p:cNvPr id="7" name="Picture 6" descr="bloqade_fidelit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007" y="640080"/>
            <a:ext cx="3520440" cy="2487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27839" y="3163824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alibri"/>
              </a:rPr>
              <a:t>Depth comparison by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8007" y="3163824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alibri"/>
              </a:rPr>
              <a:t>Fidelity under noise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01568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Scheduling comparison  (Base model, p=3, bloqade_validation.json):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3776472"/>
            <a:ext cx="24140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39" y="3749040"/>
            <a:ext cx="18288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36391" y="3776472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ZZ Moments/Layer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3749040"/>
            <a:ext cx="18288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10912" y="3776472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Optimal P(x*)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3749040"/>
            <a:ext cx="18288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1" y="3776472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Feasible Mass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749040"/>
            <a:ext cx="164592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59952" y="3776472"/>
            <a:ext cx="1499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Depth (p=3)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41648"/>
            <a:ext cx="256032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4078224"/>
            <a:ext cx="24140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2A4A"/>
                </a:solidFill>
                <a:latin typeface="Calibri"/>
              </a:rPr>
              <a:t>Naive sequential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39" y="4041648"/>
            <a:ext cx="182880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36391" y="4078224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59" y="4041648"/>
            <a:ext cx="182880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10912" y="4078224"/>
            <a:ext cx="16824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~</a:t>
            </a:r>
            <a:r>
              <a:rPr lang="en-US" sz="900" b="0" i="0" dirty="0">
                <a:solidFill>
                  <a:srgbClr val="4A5A6E"/>
                </a:solidFill>
                <a:latin typeface="Calibri"/>
              </a:rPr>
              <a:t>0.85</a:t>
            </a:r>
            <a:r>
              <a:rPr sz="900" b="0" i="0" dirty="0">
                <a:solidFill>
                  <a:srgbClr val="4A5A6E"/>
                </a:solidFill>
                <a:latin typeface="Calibri"/>
              </a:rPr>
              <a:t>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4041648"/>
            <a:ext cx="182880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85431" y="4078224"/>
            <a:ext cx="16824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~</a:t>
            </a:r>
            <a:r>
              <a:rPr lang="en-US" sz="900" b="0" i="0" dirty="0">
                <a:solidFill>
                  <a:srgbClr val="4A5A6E"/>
                </a:solidFill>
                <a:latin typeface="Calibri"/>
              </a:rPr>
              <a:t>57.7</a:t>
            </a:r>
            <a:r>
              <a:rPr sz="900" b="0" i="0" dirty="0">
                <a:solidFill>
                  <a:srgbClr val="4A5A6E"/>
                </a:solidFill>
                <a:latin typeface="Calibri"/>
              </a:rPr>
              <a:t>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4041648"/>
            <a:ext cx="164592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59952" y="4078224"/>
            <a:ext cx="14996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solidFill>
                  <a:srgbClr val="4A5A6E"/>
                </a:solidFill>
                <a:latin typeface="Calibri"/>
              </a:rPr>
              <a:t>134</a:t>
            </a:r>
            <a:endParaRPr sz="900" b="0" i="0" dirty="0">
              <a:solidFill>
                <a:srgbClr val="4A5A6E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4352544"/>
            <a:ext cx="25603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4389120"/>
            <a:ext cx="24140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2A4A"/>
                </a:solidFill>
                <a:latin typeface="Calibri"/>
              </a:rPr>
              <a:t>Auto-parallel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39" y="4352544"/>
            <a:ext cx="182880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36391" y="4389120"/>
            <a:ext cx="16824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59" y="4352544"/>
            <a:ext cx="182880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10912" y="4389120"/>
            <a:ext cx="16824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~</a:t>
            </a:r>
            <a:r>
              <a:rPr lang="en-US" sz="900" b="0" i="0" dirty="0">
                <a:solidFill>
                  <a:srgbClr val="4A5A6E"/>
                </a:solidFill>
                <a:latin typeface="Calibri"/>
              </a:rPr>
              <a:t>0.85</a:t>
            </a:r>
            <a:r>
              <a:rPr sz="900" b="0" i="0" dirty="0">
                <a:solidFill>
                  <a:srgbClr val="4A5A6E"/>
                </a:solidFill>
                <a:latin typeface="Calibri"/>
              </a:rPr>
              <a:t>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4352544"/>
            <a:ext cx="182880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85431" y="4389120"/>
            <a:ext cx="16824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A6E"/>
                </a:solidFill>
                <a:latin typeface="Calibri"/>
              </a:rPr>
              <a:t>~</a:t>
            </a:r>
            <a:r>
              <a:rPr lang="en-US" sz="900" dirty="0">
                <a:solidFill>
                  <a:srgbClr val="4A5A6E"/>
                </a:solidFill>
                <a:latin typeface="Calibri"/>
              </a:rPr>
              <a:t>57.7</a:t>
            </a:r>
            <a:r>
              <a:rPr sz="900" b="0" i="0" dirty="0">
                <a:solidFill>
                  <a:srgbClr val="4A5A6E"/>
                </a:solidFill>
                <a:latin typeface="Calibri"/>
              </a:rPr>
              <a:t>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4352544"/>
            <a:ext cx="16459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59952" y="4389120"/>
            <a:ext cx="14996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4A5A6E"/>
                </a:solidFill>
                <a:latin typeface="Calibri"/>
              </a:rPr>
              <a:t>99</a:t>
            </a:r>
            <a:endParaRPr sz="900" b="0" i="0" dirty="0">
              <a:solidFill>
                <a:srgbClr val="4A5A6E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663440"/>
            <a:ext cx="2560320" cy="292608"/>
          </a:xfrm>
          <a:prstGeom prst="rect">
            <a:avLst/>
          </a:prstGeom>
          <a:solidFill>
            <a:srgbClr val="E0E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4700016"/>
            <a:ext cx="24140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7A4F"/>
                </a:solidFill>
                <a:latin typeface="Calibri"/>
              </a:rPr>
              <a:t>Hand 7-color 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39" y="4663440"/>
            <a:ext cx="1828800" cy="292608"/>
          </a:xfrm>
          <a:prstGeom prst="rect">
            <a:avLst/>
          </a:prstGeom>
          <a:solidFill>
            <a:srgbClr val="E0E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36391" y="4700016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7A4F"/>
                </a:solidFill>
                <a:latin typeface="Calibri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59" y="4663440"/>
            <a:ext cx="1828800" cy="292608"/>
          </a:xfrm>
          <a:prstGeom prst="rect">
            <a:avLst/>
          </a:prstGeom>
          <a:solidFill>
            <a:srgbClr val="E0E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10912" y="4700016"/>
            <a:ext cx="16824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0A7A4F"/>
                </a:solidFill>
                <a:latin typeface="Calibri"/>
              </a:rPr>
              <a:t>0.824</a:t>
            </a:r>
            <a:r>
              <a:rPr sz="900" b="1" i="0" dirty="0">
                <a:solidFill>
                  <a:srgbClr val="0A7A4F"/>
                </a:solidFill>
                <a:latin typeface="Calibri"/>
              </a:rPr>
              <a:t>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4663440"/>
            <a:ext cx="1828800" cy="292608"/>
          </a:xfrm>
          <a:prstGeom prst="rect">
            <a:avLst/>
          </a:prstGeom>
          <a:solidFill>
            <a:srgbClr val="E0E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85431" y="4700016"/>
            <a:ext cx="16824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A7A4F"/>
                </a:solidFill>
                <a:latin typeface="Calibri"/>
              </a:rPr>
              <a:t>57.</a:t>
            </a:r>
            <a:r>
              <a:rPr lang="en-US" sz="900" b="1" i="0" dirty="0">
                <a:solidFill>
                  <a:srgbClr val="0A7A4F"/>
                </a:solidFill>
                <a:latin typeface="Calibri"/>
              </a:rPr>
              <a:t>7</a:t>
            </a:r>
            <a:r>
              <a:rPr sz="900" b="1" i="0" dirty="0">
                <a:solidFill>
                  <a:srgbClr val="0A7A4F"/>
                </a:solidFill>
                <a:latin typeface="Calibri"/>
              </a:rPr>
              <a:t>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4663440"/>
            <a:ext cx="1645920" cy="292608"/>
          </a:xfrm>
          <a:prstGeom prst="rect">
            <a:avLst/>
          </a:prstGeom>
          <a:solidFill>
            <a:srgbClr val="E0E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59952" y="4700016"/>
            <a:ext cx="1499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7A4F"/>
                </a:solidFill>
                <a:latin typeface="Calibri"/>
              </a:rPr>
              <a:t>85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Quantum vs Classical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bloqade_validation.json · comparison_table.csv · hand 7-color p=3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11296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58444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Validated Bloqade results  (hand 7-color, p=3, 2,048 shots):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58768"/>
            <a:ext cx="128016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3886200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3936" y="3858768"/>
            <a:ext cx="13716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388620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Exact Opt.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3858768"/>
            <a:ext cx="13716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36976" y="388620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Quantum Best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3858768"/>
            <a:ext cx="82296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388620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Match?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9824" y="3858768"/>
            <a:ext cx="96012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04688" y="3886200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P(x*)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858768"/>
            <a:ext cx="128016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4" y="3886200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Feasible Mass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3858768"/>
            <a:ext cx="82296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388620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51376"/>
            <a:ext cx="128016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" y="4187952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3936" y="4151376"/>
            <a:ext cx="137160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0" y="4187952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00011110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4151376"/>
            <a:ext cx="137160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36976" y="4187952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00011110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4151376"/>
            <a:ext cx="82296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45152" y="418795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A7A4F"/>
                </a:solidFill>
                <a:latin typeface="Calibri"/>
              </a:rPr>
              <a:t>  Yes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9824" y="4151376"/>
            <a:ext cx="96012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04688" y="4187952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0.824%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151376"/>
            <a:ext cx="128016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01384" y="4187952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57.66%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63256" y="4151376"/>
            <a:ext cx="82296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20" y="418795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85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62272"/>
            <a:ext cx="128016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" y="4498848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Capital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73936" y="4462272"/>
            <a:ext cx="137160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28800" y="4498848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11110000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2112" y="4462272"/>
            <a:ext cx="137160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36976" y="4498848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11110000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4462272"/>
            <a:ext cx="82296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45152" y="4498848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A7A4F"/>
                </a:solidFill>
                <a:latin typeface="Calibri"/>
              </a:rPr>
              <a:t>  Yes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9824" y="4462272"/>
            <a:ext cx="9601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04688" y="4498848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0.825%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4462272"/>
            <a:ext cx="128016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01384" y="4498848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57.66%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3256" y="4462272"/>
            <a:ext cx="82296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18120" y="4498848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773168"/>
            <a:ext cx="128016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2064" y="4809744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Liquidity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73936" y="4773168"/>
            <a:ext cx="137160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28800" y="4809744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11001100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82112" y="4773168"/>
            <a:ext cx="137160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36976" y="4809744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11001100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90288" y="4773168"/>
            <a:ext cx="82296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45152" y="4809744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A7A4F"/>
                </a:solidFill>
                <a:latin typeface="Calibri"/>
              </a:rPr>
              <a:t>  Yes 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9824" y="4773168"/>
            <a:ext cx="96012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504688" y="4809744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0.825%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4773168"/>
            <a:ext cx="128016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01384" y="4809744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57.66%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63256" y="4773168"/>
            <a:ext cx="822960" cy="292608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818120" y="4809744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85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084064"/>
            <a:ext cx="128016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12064" y="5120640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Both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73936" y="5084064"/>
            <a:ext cx="137160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828800" y="512064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11110000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82112" y="5084064"/>
            <a:ext cx="137160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36976" y="512064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11110000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90288" y="5084064"/>
            <a:ext cx="82296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645152" y="512064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A7A4F"/>
                </a:solidFill>
                <a:latin typeface="Calibri"/>
              </a:rPr>
              <a:t>  Yes 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49824" y="5084064"/>
            <a:ext cx="9601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04688" y="5120640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0.825%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5084064"/>
            <a:ext cx="128016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501384" y="5120640"/>
            <a:ext cx="1170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57.66%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63256" y="5084064"/>
            <a:ext cx="82296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818120" y="512064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85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431536"/>
            <a:ext cx="11274552" cy="384048"/>
          </a:xfrm>
          <a:prstGeom prst="rect">
            <a:avLst/>
          </a:prstGeom>
          <a:solidFill>
            <a:srgbClr val="EBF3FF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66928" y="5477256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✓  Best sampled feasible matches classical optimum for all 4 models   |   Honest limitation: P(x*) ≈ 0.82% vs uniform 1/70 ≈ 1.43% — QAOA learns budget structure but does not sharply rank feasible portfolios at 8 qubits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86" name="Picture 85" descr="A close-up of a graph&#10;&#10;AI-generated content may be incorrect.">
            <a:extLst>
              <a:ext uri="{FF2B5EF4-FFF2-40B4-BE49-F238E27FC236}">
                <a16:creationId xmlns:a16="http://schemas.microsoft.com/office/drawing/2014/main" id="{B5C55866-8581-0730-2510-EF2973395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726953"/>
            <a:ext cx="7772400" cy="27386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Full Model Comparison &amp; Business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All metrics from comparison_table.csv — real Hartford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9144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58368"/>
            <a:ext cx="6187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99032" y="640080"/>
            <a:ext cx="11430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35608" y="658368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Bitstring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9464" y="640080"/>
            <a:ext cx="233172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658368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28616" y="640080"/>
            <a:ext cx="8686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5192" y="65836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4728" y="640080"/>
            <a:ext cx="8686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61304" y="65836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Vol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640080"/>
            <a:ext cx="8686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7416" y="65836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 Chg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16952" y="640080"/>
            <a:ext cx="91440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53527" y="65836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58784" y="640080"/>
            <a:ext cx="8686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59" y="65836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Worst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932688"/>
            <a:ext cx="91440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969264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99032" y="932688"/>
            <a:ext cx="114300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35608" y="969264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00011110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9464" y="932688"/>
            <a:ext cx="233172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06040" y="969264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HY · EqUS · EqIntl · 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28616" y="932688"/>
            <a:ext cx="86868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65192" y="969264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0.040%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24728" y="932688"/>
            <a:ext cx="86868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61304" y="969264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0.492%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932688"/>
            <a:ext cx="86868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57416" y="969264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0.255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16952" y="932688"/>
            <a:ext cx="91440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53527" y="969264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3.30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58784" y="932688"/>
            <a:ext cx="86868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59" y="969264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9222F"/>
                </a:solidFill>
                <a:latin typeface="Calibri"/>
              </a:rPr>
              <a:t>−1.73%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1261872"/>
            <a:ext cx="9144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76" y="12984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Capital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99032" y="1261872"/>
            <a:ext cx="11430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35608" y="1298448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11110000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9464" y="1261872"/>
            <a:ext cx="23317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06040" y="1298448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Cash · Gov · IG · HY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28616" y="1261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65192" y="129844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0.014%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24728" y="1261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61304" y="129844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7A4F"/>
                </a:solidFill>
                <a:latin typeface="Calibri"/>
              </a:rPr>
              <a:t>0.198%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1261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57416" y="129844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7A4F"/>
                </a:solidFill>
                <a:latin typeface="Calibri"/>
              </a:rPr>
              <a:t>0.026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16952" y="1261872"/>
            <a:ext cx="9144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53527" y="12984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3.73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58784" y="1261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95359" y="129844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9222F"/>
                </a:solidFill>
                <a:latin typeface="Calibri"/>
              </a:rPr>
              <a:t>−0.61%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1591056"/>
            <a:ext cx="91440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3776" y="1627632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Liquid.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99032" y="1591056"/>
            <a:ext cx="114300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435608" y="1627632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11001100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9464" y="1591056"/>
            <a:ext cx="233172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06040" y="1627632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Cash · Gov · EqUS · EqIntl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28616" y="1591056"/>
            <a:ext cx="86868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65192" y="1627632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0.022%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24728" y="1591056"/>
            <a:ext cx="86868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861304" y="1627632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0.373%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20840" y="1591056"/>
            <a:ext cx="86868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757416" y="1627632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0.179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16952" y="1591056"/>
            <a:ext cx="91440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653527" y="1627632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4.21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58784" y="1591056"/>
            <a:ext cx="868680" cy="310896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95359" y="1627632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9222F"/>
                </a:solidFill>
                <a:latin typeface="Calibri"/>
              </a:rPr>
              <a:t>−1.06%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1920240"/>
            <a:ext cx="9144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3776" y="195681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Both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99032" y="1920240"/>
            <a:ext cx="11430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435608" y="1956816"/>
            <a:ext cx="1069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11110000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9464" y="1920240"/>
            <a:ext cx="23317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606040" y="1956816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A4A"/>
                </a:solidFill>
                <a:latin typeface="Calibri"/>
              </a:rPr>
              <a:t>Cash · Gov · IG · HY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28616" y="19202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65192" y="1956816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0.014%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24728" y="19202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861304" y="1956816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7A4F"/>
                </a:solidFill>
                <a:latin typeface="Calibri"/>
              </a:rPr>
              <a:t>0.198%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20840" y="19202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757416" y="1956816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7A4F"/>
                </a:solidFill>
                <a:latin typeface="Calibri"/>
              </a:rPr>
              <a:t>0.026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16952" y="1920240"/>
            <a:ext cx="9144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653527" y="195681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Calibri"/>
              </a:rPr>
              <a:t>3.73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58784" y="19202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595359" y="1956816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9222F"/>
                </a:solidFill>
                <a:latin typeface="Calibri"/>
              </a:rPr>
              <a:t>−0.61%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2304288"/>
            <a:ext cx="11274552" cy="10972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7200" y="23774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Business Takeaways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2688336"/>
            <a:ext cx="5582412" cy="126187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57200" y="2688336"/>
            <a:ext cx="45720" cy="12618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" y="2743200"/>
            <a:ext cx="5353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Base Model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" y="2999232"/>
            <a:ext cx="53538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Maximises expected return (0.040%) but accepts 5× higher volatility and 10× higher capital charge. Suitable for growth-oriented allocation without regulatory constraints.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49340" y="2688336"/>
            <a:ext cx="5582412" cy="126187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149340" y="2688336"/>
            <a:ext cx="45720" cy="12618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286500" y="2743200"/>
            <a:ext cx="5353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Capital Model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86500" y="2999232"/>
            <a:ext cx="53538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Solvency capital charge drops 0.255 → 0.026. Worst scenario improves −1.73% → −0.61%. Directly improves Solvency II SCR ratio — the most relevant outcome for The Hartford.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041648"/>
            <a:ext cx="5582412" cy="126187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57200" y="4041648"/>
            <a:ext cx="45720" cy="12618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" y="4096511"/>
            <a:ext cx="5353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Liquidity Model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4360" y="4352544"/>
            <a:ext cx="53538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Retains growth exposure (Eq US, Eq Intl) while improving average liquidity score 3.30 → 4.21. Best balance for balance-sheet flexibility under stress.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49340" y="4041648"/>
            <a:ext cx="5582412" cy="1261872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149340" y="4041648"/>
            <a:ext cx="45720" cy="12618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86500" y="4096511"/>
            <a:ext cx="5353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Both Model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86500" y="4352544"/>
            <a:ext cx="53538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At γ = η = 0.25, capital penalty dominates — outcome identical to Capital model. Confirms that solvency is the binding insurer constraint at these penalty weights.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Conclusions &amp;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8BED8"/>
                </a:solidFill>
                <a:latin typeface="Calibri"/>
              </a:rPr>
              <a:t>GOALCWRU  |  YQuantum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5564124" cy="4754880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5564124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67512"/>
            <a:ext cx="53812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We Demonstrated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005840"/>
            <a:ext cx="237744" cy="2377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01498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05840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8-qubit QUBO encoding of real Hartford 50-asset workbook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237744" cy="2377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54533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1536192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Insurer-aware objective:  capital (γ) + illiquidity (η) penalties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066543"/>
            <a:ext cx="237744" cy="2377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075687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66543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QAOA p=1,2,3 on Bloqade — matches classical optimum (4/4 models)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596896"/>
            <a:ext cx="237744" cy="2377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606039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2596896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K₈ edge-coloring:  28 → 7 parallel ZZ moments per cost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3127248"/>
            <a:ext cx="237744" cy="2377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3136391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127248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2D neutral-atom layout from sector correlations (MDS embedding)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657600"/>
            <a:ext cx="237744" cy="2377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66674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657600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Gemini noise:  feasible mass 59.4% → 47.6% under one-zone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4187952"/>
            <a:ext cx="237744" cy="2377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419709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187952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Full stress analytics from 1,200 real Hartford scenarios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4718304"/>
            <a:ext cx="237744" cy="2377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472744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Fully reproducible pipeline — code, data, figures, and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7628" y="640080"/>
            <a:ext cx="5564124" cy="4754880"/>
          </a:xfrm>
          <a:prstGeom prst="rect">
            <a:avLst/>
          </a:prstGeom>
          <a:solidFill>
            <a:srgbClr val="F4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67628" y="640080"/>
            <a:ext cx="5564124" cy="292608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59068" y="667512"/>
            <a:ext cx="53812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Path to Quantum Advantage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0780" y="1005840"/>
            <a:ext cx="237744" cy="237744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0780" y="101498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1676" y="1005840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Scale to 20–50 qubits:  full asset-level QUBO beyond brute-force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0780" y="1536192"/>
            <a:ext cx="237744" cy="237744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0780" y="154533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1676" y="1536192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Continuous portfolio weights via VQE or amplitude encoding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0780" y="2066543"/>
            <a:ext cx="237744" cy="237744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40780" y="2075687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1676" y="2066543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Exploit Rydberg blockade for native cardinality constraint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0780" y="2596896"/>
            <a:ext cx="237744" cy="237744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40780" y="2606039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1676" y="2596896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Hardware execution on Pasqal / QuEra neutral-atom QPU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0780" y="3127248"/>
            <a:ext cx="237744" cy="237744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40780" y="3136391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1676" y="3127248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Multi-period rebalancing as parameterised quantum circuit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0780" y="3657600"/>
            <a:ext cx="237744" cy="237744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40780" y="366674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1676" y="3657600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Hybrid quantum-classical loop for dynamic re-optimisation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40780" y="4187952"/>
            <a:ext cx="237744" cy="237744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40780" y="419709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1676" y="4187952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Live price data integration for production deployment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40780" y="4718304"/>
            <a:ext cx="237744" cy="237744"/>
          </a:xfrm>
          <a:prstGeom prst="rect">
            <a:avLst/>
          </a:prstGeom>
          <a:solidFill>
            <a:srgbClr val="3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0780" y="472744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51676" y="4718304"/>
            <a:ext cx="50886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Calibri"/>
              </a:rPr>
              <a:t>Benchmarking against quantum-inspired classical solvers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5440680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4320" y="547725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GOALCWRU  —  8 qubits  ·  4 sectors  ·  1 quantum approach to insurer portfolio optimisation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4320" y="668426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GOALCWRU  |  YQuantum 2026  |  Capgemini × The Hartford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40312" y="6684264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2372</Words>
  <Application>Microsoft Macintosh PowerPoint</Application>
  <PresentationFormat>Custom</PresentationFormat>
  <Paragraphs>389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Giorgi Malania</cp:lastModifiedBy>
  <cp:revision>6</cp:revision>
  <dcterms:created xsi:type="dcterms:W3CDTF">2013-01-27T09:14:16Z</dcterms:created>
  <dcterms:modified xsi:type="dcterms:W3CDTF">2026-04-05T15:15:47Z</dcterms:modified>
  <cp:category/>
</cp:coreProperties>
</file>